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27"/>
  </p:notesMasterIdLst>
  <p:sldIdLst>
    <p:sldId id="256" r:id="rId2"/>
    <p:sldId id="280" r:id="rId3"/>
    <p:sldId id="257" r:id="rId4"/>
    <p:sldId id="258" r:id="rId5"/>
    <p:sldId id="281" r:id="rId6"/>
    <p:sldId id="259" r:id="rId7"/>
    <p:sldId id="277" r:id="rId8"/>
    <p:sldId id="260" r:id="rId9"/>
    <p:sldId id="263" r:id="rId10"/>
    <p:sldId id="279" r:id="rId11"/>
    <p:sldId id="284" r:id="rId12"/>
    <p:sldId id="283" r:id="rId13"/>
    <p:sldId id="264" r:id="rId14"/>
    <p:sldId id="282" r:id="rId15"/>
    <p:sldId id="265" r:id="rId16"/>
    <p:sldId id="266" r:id="rId17"/>
    <p:sldId id="267" r:id="rId18"/>
    <p:sldId id="278" r:id="rId19"/>
    <p:sldId id="269" r:id="rId20"/>
    <p:sldId id="276" r:id="rId21"/>
    <p:sldId id="274" r:id="rId22"/>
    <p:sldId id="285" r:id="rId23"/>
    <p:sldId id="286" r:id="rId24"/>
    <p:sldId id="287" r:id="rId25"/>
    <p:sldId id="288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9" autoAdjust="0"/>
  </p:normalViewPr>
  <p:slideViewPr>
    <p:cSldViewPr>
      <p:cViewPr>
        <p:scale>
          <a:sx n="64" d="100"/>
          <a:sy n="64" d="100"/>
        </p:scale>
        <p:origin x="-1336" y="-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A93ED-F26D-419A-A12F-853CC08E8E9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C600A-BBFD-4A96-B5CA-F69B6F719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5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195C-787D-4F52-AA10-6CFB9BCD9731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6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7D71D-9288-4D65-921B-257560CAC0B2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23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B0DBC-F453-47FF-931A-DE846C5B5E6D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24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E0046-6E83-4EB3-8BCB-B64F94A6F8A0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80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9307B-3C38-43E2-8265-49CEB51CBE7F}" type="datetime1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06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877D-F65B-4655-95CB-228187875BD4}" type="datetime1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0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0C62F-A29E-45F6-9F82-78D218095330}" type="datetime1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4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2322C-E2AD-41A0-944D-863D96F5656E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61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3D95-6740-444E-A95E-90B9A34835CD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3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BCFD-7840-4441-890D-E445C7186167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95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7AC6-4A7A-4D6B-AB5B-E851CEE570E1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18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F7D96-6689-4343-AC06-74A12D41D848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ACBED-1CBA-4FC2-B262-EC8B7AA1B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08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3781708"/>
            <a:ext cx="8915400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711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 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711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</a:t>
            </a:r>
            <a:r>
              <a:rPr kumimoji="0" lang="en-US" sz="1400" b="1" i="1" u="none" strike="noStrike" cap="none" normalizeH="0" baseline="0" dirty="0" smtClean="0">
                <a:ln>
                  <a:noFill/>
                </a:ln>
                <a:solidFill>
                  <a:srgbClr val="4F81BD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0" y="21465"/>
            <a:ext cx="9144000" cy="6836535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200000"/>
              </a:lnSpc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200000"/>
              </a:lnSpc>
            </a:pPr>
            <a:r>
              <a:rPr lang="en-US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INFOLINK</a:t>
            </a:r>
            <a:endParaRPr lang="en-US" sz="3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UNIVERSIY COLLEGE HAWASSA CAMPUS</a:t>
            </a:r>
          </a:p>
          <a:p>
            <a:pPr algn="ctr">
              <a:lnSpc>
                <a:spcPct val="150000"/>
              </a:lnSpc>
            </a:pP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COMPUTER SCIENCE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“Location Based Drug Store Information System For </a:t>
            </a:r>
            <a:r>
              <a:rPr lang="en-US" sz="2400" b="1" dirty="0" err="1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Yanet</a:t>
            </a:r>
            <a:r>
              <a:rPr lang="en-US" sz="24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Hospital </a:t>
            </a:r>
            <a:r>
              <a:rPr lang="en-US" sz="2400" b="1" dirty="0" err="1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Hawassa</a:t>
            </a:r>
            <a:r>
              <a:rPr lang="en-US" sz="24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”</a:t>
            </a:r>
            <a:endParaRPr lang="en-US" sz="2400" dirty="0" smtClean="0">
              <a:solidFill>
                <a:schemeClr val="tx1"/>
              </a:solidFill>
              <a:latin typeface="Calibri"/>
              <a:ea typeface="Calibri"/>
              <a:cs typeface="Times New Roman"/>
            </a:endParaRPr>
          </a:p>
          <a:p>
            <a:pPr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latin typeface="Times New Roman"/>
              <a:ea typeface="Times New Roman"/>
              <a:cs typeface="Times New Roman"/>
            </a:endParaRPr>
          </a:p>
          <a:p>
            <a:pPr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February </a:t>
            </a: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2026</a:t>
            </a:r>
            <a:endParaRPr lang="en-US" sz="1400" dirty="0">
              <a:solidFill>
                <a:schemeClr val="tx1"/>
              </a:solidFill>
              <a:latin typeface="Calibri"/>
              <a:ea typeface="Calibri"/>
              <a:cs typeface="Times New Roman"/>
            </a:endParaRPr>
          </a:p>
          <a:p>
            <a:pPr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Hawassa</a:t>
            </a:r>
            <a:r>
              <a:rPr lang="en-US"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Ethiopia</a:t>
            </a:r>
            <a:endParaRPr lang="en-US" sz="1400" dirty="0">
              <a:solidFill>
                <a:schemeClr val="tx1"/>
              </a:solidFill>
              <a:latin typeface="Calibri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2" descr="C:\Users\user\AppData\Local\Temp\ksohtml9084\wps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65" y="533400"/>
            <a:ext cx="1676399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41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82296" indent="0" algn="ctr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Group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Members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ID no</a:t>
            </a:r>
          </a:p>
          <a:p>
            <a:pPr marL="82296" indent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Betelhem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Tewodros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818625-15</a:t>
            </a:r>
          </a:p>
          <a:p>
            <a:pPr marL="82296" indent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Tiblet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Guyo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     316919-15</a:t>
            </a:r>
          </a:p>
          <a:p>
            <a:pPr marL="82296" indent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Tsehay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Jima                     595442-15</a:t>
            </a:r>
          </a:p>
          <a:p>
            <a:pPr marL="82296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Advisor’s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name: Mr.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Gizaw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Melese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8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82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dirty="0" smtClean="0">
                <a:latin typeface="Times New Roman" pitchFamily="18" charset="0"/>
                <a:cs typeface="Times New Roman" panose="02020603050405020304" pitchFamily="18" charset="0"/>
              </a:rPr>
              <a:t/>
            </a:r>
            <a:br>
              <a:rPr lang="en-US" sz="3600" dirty="0" smtClean="0">
                <a:latin typeface="Times New Roman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Content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5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Background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Study</a:t>
            </a:r>
          </a:p>
          <a:p>
            <a:pPr algn="l"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Statement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Problem</a:t>
            </a:r>
          </a:p>
          <a:p>
            <a:pPr algn="l"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Objectives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</a:t>
            </a:r>
          </a:p>
          <a:p>
            <a:pPr algn="l"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Scope of the project 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Significance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</a:t>
            </a:r>
          </a:p>
          <a:p>
            <a:pPr algn="l">
              <a:lnSpc>
                <a:spcPct val="150000"/>
              </a:lnSpc>
            </a:pPr>
            <a:r>
              <a:rPr lang="en-US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pPr algn="l"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Development Tools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Existing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</a:p>
          <a:p>
            <a:pPr algn="l"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Functional requirement</a:t>
            </a:r>
          </a:p>
          <a:p>
            <a:pPr algn="l"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Non- Functional requirement</a:t>
            </a:r>
          </a:p>
          <a:p>
            <a:pPr algn="l"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Analysis Diagrams Design</a:t>
            </a:r>
          </a:p>
          <a:p>
            <a:pPr algn="l">
              <a:lnSpc>
                <a:spcPct val="150000"/>
              </a:lnSpc>
            </a:pP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dirty="0"/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586"/>
            <a:ext cx="9144000" cy="52481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Introduction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14400"/>
            <a:ext cx="9162245" cy="6414752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Pharmaceutical services are critical for maintaining public health by ensuring safe, timely, and reliable access to medicines.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Hawassa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City, these services are provided by hospitals and pharmacies, including </a:t>
            </a:r>
            <a:r>
              <a:rPr 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Primary Hospital.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Primary Hospital operates three pharmacy branches that serve a large number of patients every day.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hospital currently uses an internal pharmacy system mainly for inventory management, such as recording medicines, updating stock levels, and removing expired items.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system is not accessible to customers.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0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0"/>
            <a:ext cx="9162245" cy="7329152"/>
          </a:xfrm>
        </p:spPr>
        <p:txBody>
          <a:bodyPr>
            <a:normAutofit fontScale="92500"/>
          </a:bodyPr>
          <a:lstStyle/>
          <a:p>
            <a:r>
              <a:rPr lang="en-US" sz="2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Background of the Project</a:t>
            </a:r>
          </a:p>
          <a:p>
            <a:pPr marL="342900" indent="-342900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Pharmacies and drug stores play a key role in healthcare by ensuring safe and timely access to medicines.</a:t>
            </a:r>
          </a:p>
          <a:p>
            <a:pPr marL="342900" indent="-342900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Pharmacies and the </a:t>
            </a:r>
            <a:r>
              <a:rPr 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Drug Store, medicine ordering and distribution are still handled mainly through manual processes.</a:t>
            </a:r>
          </a:p>
          <a:p>
            <a:pPr marL="342900" indent="-342900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Customers must visit pharmacies with paper prescriptions, while pharmacy staff check medicine availability using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internal system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medicines are unavailable, pharmacies contact the drug store using phone calls or paper requests, causing delays and lack of real-time updates.</a:t>
            </a:r>
          </a:p>
          <a:p>
            <a:pPr marL="342900" indent="-342900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absence of a centralized digital system leads to medicine shortages, overstocking, repeated customer visits, and service inefficiencies.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3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Statement of the Problem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existing pharmacy system at </a:t>
            </a:r>
            <a:r>
              <a:rPr 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Primary Hospital does not provide digital access to services for customers.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Customers must physically visit pharmacy branches to check medicine availability and prices.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 is no online system for remote medicine ordering.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Home delivery services for medicines are not available.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Manual, in-person service processes result in long waiting times and inconvenience.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Pharmacy branches lack an integrated online system to request medicines and track inventory updates from the </a:t>
            </a:r>
            <a:r>
              <a:rPr 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Drug Store.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Medicine requests and deliveries between the </a:t>
            </a:r>
            <a:r>
              <a:rPr 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Drug Store and other pharmacies are managed manually, without real-time tracking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44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04800"/>
            <a:ext cx="9144000" cy="6553200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endParaRPr lang="en-US" sz="24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</a:pPr>
            <a:endParaRPr 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Objectives of the System</a:t>
            </a:r>
          </a:p>
          <a:p>
            <a:pPr algn="just">
              <a:lnSpc>
                <a:spcPct val="150000"/>
              </a:lnSpc>
            </a:pPr>
            <a:r>
              <a:rPr lang="en-US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General Objective</a:t>
            </a:r>
          </a:p>
          <a:p>
            <a:pPr marL="342900" indent="-3429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develop a </a:t>
            </a:r>
            <a:r>
              <a:rPr lang="en-US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web-based Location-Based Drug Store Information System</a:t>
            </a: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that improves access to medicines, supports online ordering and delivery, and enhances coordination among </a:t>
            </a:r>
            <a:r>
              <a:rPr lang="en-US" sz="2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Primary Hospital pharmacies, </a:t>
            </a:r>
            <a:r>
              <a:rPr lang="en-US" sz="2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Drug Store, and other pharmacies in </a:t>
            </a:r>
            <a:r>
              <a:rPr lang="en-US" sz="2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Hawassa</a:t>
            </a: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City.</a:t>
            </a:r>
          </a:p>
          <a:p>
            <a:pPr algn="just">
              <a:lnSpc>
                <a:spcPct val="200000"/>
              </a:lnSpc>
            </a:pPr>
            <a:r>
              <a:rPr lang="en-US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Specific Objectives </a:t>
            </a:r>
          </a:p>
          <a:p>
            <a:pPr marL="342900" indent="-3429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Enable online medicine search with price and availability information.</a:t>
            </a:r>
          </a:p>
          <a:p>
            <a:pPr marL="342900" indent="-3429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Support electronic prescription submission, verification, and approval.</a:t>
            </a:r>
          </a:p>
          <a:p>
            <a:pPr marL="342900" indent="-3429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Provide online medicine ordering and secure payment services</a:t>
            </a:r>
            <a:r>
              <a:rPr lang="en-US" sz="2200" dirty="0" smtClean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1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781800"/>
          </a:xfrm>
        </p:spPr>
        <p:txBody>
          <a:bodyPr>
            <a:normAutofit fontScale="85000" lnSpcReduction="10000"/>
          </a:bodyPr>
          <a:lstStyle/>
          <a:p>
            <a:endParaRPr lang="en-US" sz="2800" b="1" dirty="0" smtClean="0"/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Improve pharmacy inventory management with real-time stock updates.</a:t>
            </a: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Enhance coordination between pharmacies and the </a:t>
            </a:r>
            <a:r>
              <a:rPr lang="en-US" sz="2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Drug Store for medicine requests and delivery tracking.</a:t>
            </a: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Integrate external pharmacies into a standardized digital ordering system.</a:t>
            </a: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Reduce customer waiting time and physical queues through online services.</a:t>
            </a: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Ensure secure, role-based system access and data protection.</a:t>
            </a: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Generate reports on inventory, orders, deliveries, and pharmacy performance for decision-making.</a:t>
            </a:r>
          </a:p>
          <a:p>
            <a:pPr marL="457200" indent="-457200" algn="just">
              <a:buFont typeface="Wingdings" pitchFamily="2" charset="2"/>
              <a:buChar char="Ø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6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7999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Scope of the Project</a:t>
            </a:r>
          </a:p>
          <a:p>
            <a:pPr marL="457200" indent="-4572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Web-based Location-Based Drug Store Information System</a:t>
            </a:r>
          </a:p>
          <a:p>
            <a:pPr marL="457200" indent="-4572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Covers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Hawassa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City only</a:t>
            </a:r>
          </a:p>
          <a:p>
            <a:pPr marL="457200" indent="-4572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Supports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pharmacies,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Drug Store, and external pharmacies</a:t>
            </a:r>
          </a:p>
          <a:p>
            <a:pPr marL="457200" indent="-4572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Key features:</a:t>
            </a:r>
          </a:p>
          <a:p>
            <a:pPr marL="914400" lvl="1" indent="-4572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Online medicine search and price viewing</a:t>
            </a:r>
          </a:p>
          <a:p>
            <a:pPr marL="914400" lvl="1" indent="-4572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Prescription upload and medicine ordering</a:t>
            </a:r>
          </a:p>
          <a:p>
            <a:pPr marL="914400" lvl="1" indent="-4572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Secure payment and home delivery</a:t>
            </a:r>
          </a:p>
          <a:p>
            <a:pPr marL="914400" lvl="1" indent="-4572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Digital inventory and order management</a:t>
            </a:r>
          </a:p>
          <a:p>
            <a:pPr marL="914400" lvl="1" indent="-4572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Medicine requests between pharmacies and drug stores</a:t>
            </a:r>
          </a:p>
          <a:p>
            <a:pPr marL="914400" lvl="1" indent="-4572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Basic report generation</a:t>
            </a:r>
          </a:p>
          <a:p>
            <a:pPr marL="457200" indent="-4572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Limited to web access (mobile apps and nationwide integration excluded)</a:t>
            </a: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6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Significance of the Project</a:t>
            </a: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Replaces manual and paper-based processes</a:t>
            </a: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Reduces customer physical visits and waiting time</a:t>
            </a: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Improves access for elderly and chronically ill patients</a:t>
            </a: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Enhances inventory management and coordination</a:t>
            </a: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Supports external pharmacies with digital ordering</a:t>
            </a:r>
          </a:p>
          <a:p>
            <a:pPr marL="457200" indent="-45720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Improves healthcare service efficiency and customer satisfaction</a:t>
            </a:r>
          </a:p>
          <a:p>
            <a:pPr marL="514350" indent="-514350" algn="just">
              <a:lnSpc>
                <a:spcPct val="150000"/>
              </a:lnSpc>
              <a:buFont typeface="Wingdings" pitchFamily="2" charset="2"/>
              <a:buChar char="Ø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7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991600" cy="6781800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Project </a:t>
            </a:r>
            <a:r>
              <a:rPr lang="en-US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Methodology 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Systematic and structured approach</a:t>
            </a:r>
          </a:p>
          <a:p>
            <a:pPr>
              <a:lnSpc>
                <a:spcPct val="16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Analysis of existing pharmaceutical services</a:t>
            </a:r>
          </a:p>
          <a:p>
            <a:pPr>
              <a:lnSpc>
                <a:spcPct val="16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Identification of user problems and requirements</a:t>
            </a:r>
          </a:p>
          <a:p>
            <a:pPr>
              <a:lnSpc>
                <a:spcPct val="16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Design and development of a web-based solution</a:t>
            </a:r>
          </a:p>
          <a:p>
            <a:pPr>
              <a:lnSpc>
                <a:spcPct val="16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Focus on efficiency, accessibility, and usability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Sources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Primary Data</a:t>
            </a:r>
          </a:p>
          <a:p>
            <a:pPr algn="just">
              <a:lnSpc>
                <a:spcPct val="16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Collected directly from customers, pharmacy staff, and drug store personnel</a:t>
            </a:r>
          </a:p>
          <a:p>
            <a:pPr algn="just">
              <a:lnSpc>
                <a:spcPct val="16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Gathered from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Primary Hospital pharmacies and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Drug Store</a:t>
            </a:r>
          </a:p>
          <a:p>
            <a:pPr algn="just">
              <a:lnSpc>
                <a:spcPct val="16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Provides firsthand information on daily operations and real challenges</a:t>
            </a:r>
          </a:p>
          <a:p>
            <a:pPr algn="just">
              <a:lnSpc>
                <a:spcPct val="16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Helps identify user needs, medicine availability issues, and service gaps</a:t>
            </a:r>
          </a:p>
          <a:p>
            <a:pPr>
              <a:lnSpc>
                <a:spcPct val="1600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994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991600" cy="67818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Secondary Data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Pharmacy records and inventory documents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Used to analyze stock management and medicine availability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Prescription forms and institutional reports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Help understand prescription and reporting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processes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Fact-Finding Techniques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Interviews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Conducted with staff and customers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Identified medicine availability problems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Highlighted need for online search, ordering &amp; delivery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Practical Observation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Observed manual prescription handling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Identified delays, errors, and inefficiencies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Confirmed need for digital automation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946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79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Development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548691"/>
              </p:ext>
            </p:extLst>
          </p:nvPr>
        </p:nvGraphicFramePr>
        <p:xfrm>
          <a:off x="152400" y="914400"/>
          <a:ext cx="8839200" cy="58673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19600"/>
                <a:gridCol w="4419600"/>
              </a:tblGrid>
              <a:tr h="6163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Technology Area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Tools / Technologies Used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429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Frontend Technologies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HTML, CSS, JavaScript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429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Backend Technologies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Node.js, Express.js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429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Database Management System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MongoDB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429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Development Environment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Visual Studio Code (VS Code)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163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Web Browser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Google Chrome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429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Documentation Tools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Microsoft Word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429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Payment Tools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Telebirr API,CBE Mobile Banking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7770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Testing Tools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Chrome </a:t>
                      </a:r>
                      <a:r>
                        <a:rPr lang="en-US" sz="1200" dirty="0" err="1">
                          <a:effectLst/>
                        </a:rPr>
                        <a:t>DevTools</a:t>
                      </a:r>
                      <a:r>
                        <a:rPr lang="en-US" sz="1200" dirty="0">
                          <a:effectLst/>
                        </a:rPr>
                        <a:t>, Postman, </a:t>
                      </a:r>
                      <a:r>
                        <a:rPr lang="en-US" sz="1200" dirty="0" err="1">
                          <a:effectLst/>
                        </a:rPr>
                        <a:t>MongoDB</a:t>
                      </a:r>
                      <a:r>
                        <a:rPr lang="en-US" sz="1200" dirty="0">
                          <a:effectLst/>
                        </a:rPr>
                        <a:t> Compass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40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229600" cy="4873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existing pharmacy service system at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Primary Hospital operates mainly through manual, paper-based, and limited internal digital processes. Inputs such as paper prescriptions, verbal medicine requests, and phone-based communication with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Drug Store are handled manually. Core processes including prescription verification, medicine availability checking, dispensing, inventory management, and ordering are highly dependent on human effort. Due to the absence of a centralized and integrated system, the process is time-consuming, error-prone, and makes data tracking and retrieval difficult.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472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0" y="1"/>
            <a:ext cx="9144000" cy="685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Functional requirement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 Requirements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Provide real-time medicine availability across all pharmacies and drug stores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Support fast medicine search with acceptable response time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Allow simultaneous access by multiple users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Ensure secure, role-based login and authentication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Protect system data and user information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3648" y="4597758"/>
            <a:ext cx="457200" cy="2184042"/>
          </a:xfrm>
        </p:spPr>
        <p:txBody>
          <a:bodyPr/>
          <a:lstStyle/>
          <a:p>
            <a:fld id="{3DEACBED-1CBA-4FC2-B262-EC8B7AA1B0C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8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-23611" y="0"/>
            <a:ext cx="9144000" cy="685800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Process Requirements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Register and manage pharmacies, drug stores, and user accounts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Add, update, and delete medicine information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Update stock levels automatically after receiving or delivering medicines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Verify, approve, or reject uploaded prescriptions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Enable online medicine ordering based on approved prescriptions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Prevent duplicate orders using the same prescription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Manage order status (pending, approved, dispatched, delivered)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Support medicine requests between pharmacies and the </a:t>
            </a:r>
            <a:r>
              <a:rPr 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Drug Store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1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Input Requirements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Medicine search by name and location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Electronic prescription upload (image or PDF)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Delivery location entry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Online payment information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Output Requirements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Display medicine details, prices, and availability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Show real-time order and delivery status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Generate payment confirmations and receipts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Produce reports for inventory, orders, prescriptions, and deliveries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Export reports in PDF and CSV formats</a:t>
            </a:r>
          </a:p>
          <a:p>
            <a:pPr marL="484632" indent="-457200" algn="just">
              <a:lnSpc>
                <a:spcPct val="150000"/>
              </a:lnSpc>
              <a:buFont typeface="Wingdings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69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Non- Functional requirement</a:t>
            </a:r>
          </a:p>
          <a:p>
            <a:pPr algn="just">
              <a:lnSpc>
                <a:spcPct val="160000"/>
              </a:lnSpc>
            </a:pP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Performance</a:t>
            </a:r>
          </a:p>
          <a:p>
            <a:pPr marL="457200" indent="-457200" algn="just">
              <a:lnSpc>
                <a:spcPct val="16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Fast response for core operations (search, order, upload, tracking)</a:t>
            </a:r>
          </a:p>
          <a:p>
            <a:pPr marL="457200" indent="-457200" algn="just">
              <a:lnSpc>
                <a:spcPct val="16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Response time within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50–60 seconds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under normal conditions</a:t>
            </a:r>
          </a:p>
          <a:p>
            <a:pPr marL="457200" indent="-457200" algn="just">
              <a:lnSpc>
                <a:spcPct val="16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Support at least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300 concurrent users</a:t>
            </a:r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6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Stable performance during peak usage hours</a:t>
            </a:r>
          </a:p>
          <a:p>
            <a:pPr algn="just">
              <a:lnSpc>
                <a:spcPct val="160000"/>
              </a:lnSpc>
            </a:pP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 Interface</a:t>
            </a:r>
          </a:p>
          <a:p>
            <a:pPr marL="457200" indent="-457200" algn="just">
              <a:lnSpc>
                <a:spcPct val="16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User-friendly and intuitive web interface</a:t>
            </a:r>
          </a:p>
          <a:p>
            <a:pPr marL="457200" indent="-457200" algn="just">
              <a:lnSpc>
                <a:spcPct val="16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Accessible on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desktop and mobile devices</a:t>
            </a:r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6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Simple navigation, clear labels, and instructions</a:t>
            </a:r>
          </a:p>
          <a:p>
            <a:pPr marL="457200" indent="-457200" algn="just">
              <a:lnSpc>
                <a:spcPct val="16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Easy to use for all users, including elderly and non-technical users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9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1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Security and Access Control</a:t>
            </a:r>
          </a:p>
          <a:p>
            <a:pPr marL="571500" indent="-5715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Secure data transmission for all system activities</a:t>
            </a:r>
          </a:p>
          <a:p>
            <a:pPr marL="571500" indent="-5715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Role-based access control for customers, staff, and administrators</a:t>
            </a:r>
          </a:p>
          <a:p>
            <a:pPr marL="571500" indent="-5715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Secure storage of passwords and sensitive data using encryption</a:t>
            </a:r>
          </a:p>
          <a:p>
            <a:pPr marL="571500" indent="-5715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Protection against unauthorized access or data modification</a:t>
            </a:r>
          </a:p>
          <a:p>
            <a:pPr algn="just">
              <a:lnSpc>
                <a:spcPct val="170000"/>
              </a:lnSpc>
            </a:pPr>
            <a:r>
              <a:rPr lang="en-US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Backup and Recovery</a:t>
            </a:r>
          </a:p>
          <a:p>
            <a:pPr marL="571500" indent="-5715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Regular backup of user data, medicines, prescriptions, orders, and transactions</a:t>
            </a:r>
          </a:p>
          <a:p>
            <a:pPr marL="571500" indent="-5715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Protection against data loss due to system failure or human error</a:t>
            </a:r>
          </a:p>
          <a:p>
            <a:pPr marL="571500" indent="-5715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Reliable recovery mechanisms to restore data within a reasonable time</a:t>
            </a:r>
          </a:p>
          <a:p>
            <a:pPr marL="571500" indent="-57150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Ensures continuous pharmacy and drug store operations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1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Case Model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Actors: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Customer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Pharmacy Staff 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Pharmacies)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External Pharmacy</a:t>
            </a:r>
          </a:p>
          <a:p>
            <a:pPr lvl="0">
              <a:lnSpc>
                <a:spcPct val="150000"/>
              </a:lnSpc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Yanet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Drug Store Staff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Admin</a:t>
            </a: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8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7817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21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2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91"/>
            <a:ext cx="9010650" cy="66675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20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34061" cy="6781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Medicine search and request activity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533400"/>
            <a:ext cx="85344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70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CBED-1CBA-4FC2-B262-EC8B7AA1B0C5}" type="slidenum">
              <a:rPr lang="en-US" smtClean="0"/>
              <a:t>25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9134985" cy="5395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5537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6333</TotalTime>
  <Words>1251</Words>
  <Application>Microsoft Office PowerPoint</Application>
  <PresentationFormat>On-screen Show (4:3)</PresentationFormat>
  <Paragraphs>222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 Presentation Content </vt:lpstr>
      <vt:lpstr>Introduction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Existing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74</cp:revision>
  <dcterms:created xsi:type="dcterms:W3CDTF">2025-05-07T06:14:51Z</dcterms:created>
  <dcterms:modified xsi:type="dcterms:W3CDTF">2026-02-05T10:12:17Z</dcterms:modified>
</cp:coreProperties>
</file>